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yne"/>
      <p:regular r:id="rId201314"/>
    </p:embeddedFont>
    <p:embeddedFont>
      <p:font typeface="Syne Medium"/>
      <p:regular r:id="rId201315"/>
    </p:embeddedFont>
    <p:embeddedFont>
      <p:font typeface="Syne SemiBold"/>
      <p:regular r:id="rId201316"/>
    </p:embeddedFont>
    <p:embeddedFont>
      <p:font typeface="Syne Bold"/>
      <p:regular r:id="rId201317"/>
    </p:embeddedFont>
    <p:embeddedFont>
      <p:font typeface="Syne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52624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33717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Uncovering spending patterns, customer segments, and product preferences across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3,900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Dataset at a Glance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717575"/>
            <a:ext cx="268768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3,900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6119" y="1013445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28082" y="717575"/>
            <a:ext cx="2687762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28082" y="1013445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Columns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960120" y="717575"/>
            <a:ext cx="268768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60120" y="1013445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Missing Values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960120" y="1145381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Review Rating only</a:t>
            </a:r>
            <a:endParaRPr lang="en-US" sz="5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10060"/>
            <a:ext cx="3989412" cy="39894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63232" y="305454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Key Feature Groups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663232" y="3200698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 demographics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Purchase details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Shopping behavior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Payment methods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8699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Data Preparation in Python</a:t>
            </a:r>
            <a:endParaRPr lang="en-US" sz="2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08199"/>
            <a:ext cx="4722763" cy="704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4769" y="1550343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77144" y="1439838"/>
            <a:ext cx="4010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Load &amp; Explore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077144" y="1681535"/>
            <a:ext cx="4010099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Imported via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;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&amp;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09788"/>
            <a:ext cx="4722763" cy="848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4769" y="242388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077144" y="2241426"/>
            <a:ext cx="4010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Clean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077144" y="2483123"/>
            <a:ext cx="401009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Imputed missing Review Ratings by category median; standardized to snake_case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55293"/>
            <a:ext cx="4722763" cy="8578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4769" y="337415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77144" y="3186931"/>
            <a:ext cx="4010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077144" y="3428628"/>
            <a:ext cx="4010099" cy="35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Created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bins &amp;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; dropped redundant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4010323"/>
            <a:ext cx="4722763" cy="7044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4769" y="4252466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077144" y="4141961"/>
            <a:ext cx="4010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Load to DB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1077144" y="4383658"/>
            <a:ext cx="401009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Connected to PostgreSQL; loaded cleaned DataFrame for SQL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than female customers — a critical insight for targeting and segmentation.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54780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372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Male revenue: $157,890 vs. Female: $75,191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158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Products, Ratings &amp; Discounts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85801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Top 5 Products by Avg Rating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41797"/>
            <a:ext cx="3911054" cy="281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1590" y="1285801"/>
            <a:ext cx="391105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Most Discount-Dependent Products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2540" y="1833860"/>
            <a:ext cx="1894061" cy="8001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14751" y="1852910"/>
            <a:ext cx="170185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Hat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914751" y="2192759"/>
            <a:ext cx="170185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50.00% discounted purchases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8508" y="1833860"/>
            <a:ext cx="1894136" cy="8001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50720" y="1852910"/>
            <a:ext cx="170192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Sneakers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950720" y="2192759"/>
            <a:ext cx="17019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49.66% discounted purchases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2540" y="2853482"/>
            <a:ext cx="3930104" cy="5890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14751" y="2872532"/>
            <a:ext cx="373789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Coat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914751" y="3212381"/>
            <a:ext cx="373789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49.07% discounted purchases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31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636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69865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061865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Non-subscribers outnumber subscribers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2.7× (73% vs 27%)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and drive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$170K vs $62K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in revenue.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Avg spend is nearly identical (~$59.50), suggesting subscription conversion is an untapped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1386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912441"/>
            <a:ext cx="2290465" cy="831131"/>
          </a:xfrm>
          <a:prstGeom prst="roundRect">
            <a:avLst>
              <a:gd name="adj" fmla="val 7164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2058963"/>
            <a:ext cx="19974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370237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3,116 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912441"/>
            <a:ext cx="2290539" cy="831131"/>
          </a:xfrm>
          <a:prstGeom prst="roundRect">
            <a:avLst>
              <a:gd name="adj" fmla="val 7164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2058963"/>
            <a:ext cx="199749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370237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701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885331"/>
            <a:ext cx="4722763" cy="831131"/>
          </a:xfrm>
          <a:prstGeom prst="roundRect">
            <a:avLst>
              <a:gd name="adj" fmla="val 7164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031852"/>
            <a:ext cx="442972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34312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83 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387593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Repeat buyers with &gt;5 purchases: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958 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2,518 non-subscribers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Young Adults lead in revenue contribution, but all four age groups are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relatively balanced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suggesting broad market appeal across demographics.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80246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890540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43213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Express shipping avg: $60.48 vs. Standard: $58.46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1081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Power BI Dashboard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3925119" y="906959"/>
            <a:ext cx="4722763" cy="822722"/>
          </a:xfrm>
          <a:prstGeom prst="roundRect">
            <a:avLst>
              <a:gd name="adj" fmla="val 5654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40609" y="1022449"/>
            <a:ext cx="332259" cy="332259"/>
          </a:xfrm>
          <a:prstGeom prst="ellipse">
            <a:avLst/>
          </a:prstGeom>
          <a:solidFill>
            <a:srgbClr val="A9F00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1990" y="1113830"/>
            <a:ext cx="149498" cy="149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40609" y="1441177"/>
            <a:ext cx="44917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3.9K Customers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925119" y="1816150"/>
            <a:ext cx="4722763" cy="822722"/>
          </a:xfrm>
          <a:prstGeom prst="roundRect">
            <a:avLst>
              <a:gd name="adj" fmla="val 5654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40609" y="1931640"/>
            <a:ext cx="332259" cy="332259"/>
          </a:xfrm>
          <a:prstGeom prst="ellipse">
            <a:avLst/>
          </a:prstGeom>
          <a:solidFill>
            <a:srgbClr val="A9F00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1990" y="2023021"/>
            <a:ext cx="149498" cy="1494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40609" y="2350368"/>
            <a:ext cx="44917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$59.76 Avg Purchase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925119" y="2725341"/>
            <a:ext cx="4722763" cy="822722"/>
          </a:xfrm>
          <a:prstGeom prst="roundRect">
            <a:avLst>
              <a:gd name="adj" fmla="val 5654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040609" y="2840831"/>
            <a:ext cx="332259" cy="332259"/>
          </a:xfrm>
          <a:prstGeom prst="ellipse">
            <a:avLst/>
          </a:prstGeom>
          <a:solidFill>
            <a:srgbClr val="A9F00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31990" y="2932212"/>
            <a:ext cx="149498" cy="1494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40609" y="3259559"/>
            <a:ext cx="44917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3.75 Avg Rating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925119" y="3634532"/>
            <a:ext cx="4722763" cy="822722"/>
          </a:xfrm>
          <a:prstGeom prst="roundRect">
            <a:avLst>
              <a:gd name="adj" fmla="val 5654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040609" y="3750022"/>
            <a:ext cx="332259" cy="332259"/>
          </a:xfrm>
          <a:prstGeom prst="ellipse">
            <a:avLst/>
          </a:prstGeom>
          <a:solidFill>
            <a:srgbClr val="A9F00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1990" y="3841403"/>
            <a:ext cx="149498" cy="14949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040609" y="4168750"/>
            <a:ext cx="44917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27% Subscribers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3925119" y="4554587"/>
            <a:ext cx="5179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Interactive filters: Gender · Category · Shipping Type · Age Group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528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Business Recommendations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13" y="1114946"/>
            <a:ext cx="205978" cy="2059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2380" y="1110704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42380" y="1405012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Promote exclusive subscriber benefits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13" y="1891605"/>
            <a:ext cx="205978" cy="2059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380" y="1887364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42380" y="218167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Reward repeat buyers → Loyal segment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13" y="2668265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2380" y="266402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2380" y="295833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Balance sales lift vs. margin control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13" y="3444925"/>
            <a:ext cx="205978" cy="205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2380" y="344068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42380" y="373499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Highlight top-rated &amp; best-sellers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613" y="4221584"/>
            <a:ext cx="205978" cy="2059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2380" y="421734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42380" y="4511650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Focus on high-revenue age groups &amp; express-shipping users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2026-07-13T15:38:14Z</dcterms:created>
  <dcterms:modified xsi:type="dcterms:W3CDTF">2026-07-13T15:38:14Z</dcterms:modified>
</cp:coreProperties>
</file>